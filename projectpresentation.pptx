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5" r:id="rId5"/>
    <p:sldId id="278" r:id="rId6"/>
    <p:sldId id="281" r:id="rId7"/>
    <p:sldId id="279" r:id="rId8"/>
    <p:sldId id="262" r:id="rId9"/>
    <p:sldId id="264" r:id="rId10"/>
    <p:sldId id="286" r:id="rId11"/>
    <p:sldId id="287" r:id="rId12"/>
    <p:sldId id="280" r:id="rId13"/>
    <p:sldId id="288" r:id="rId14"/>
    <p:sldId id="289"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client id="{E27D249D-B118-0810-7731-E1B1C378D9D3}" v="5" dt="2026-06-19T09:10:10.53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7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nehali2/smart-business-idea-generator.git"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fontScale="90000"/>
          </a:bodyPr>
          <a:lstStyle/>
          <a:p>
            <a:pPr algn="ctr"/>
            <a:r>
              <a:rPr lang="en-US" sz="6600" b="1" dirty="0">
                <a:latin typeface="+mj-lt"/>
              </a:rPr>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046793184"/>
              </p:ext>
            </p:extLst>
          </p:nvPr>
        </p:nvGraphicFramePr>
        <p:xfrm>
          <a:off x="1292087" y="2600315"/>
          <a:ext cx="9037022" cy="2167128"/>
        </p:xfrm>
        <a:graphic>
          <a:graphicData uri="http://schemas.openxmlformats.org/drawingml/2006/table">
            <a:tbl>
              <a:tblPr>
                <a:noFill/>
                <a:tableStyleId>{0AAD8F4D-43EB-41E5-8A38-28AB6DFB1B60}</a:tableStyleId>
              </a:tblPr>
              <a:tblGrid>
                <a:gridCol w="170690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sz="1800" dirty="0"/>
                    </a:p>
                    <a:p>
                      <a:pPr marL="0" marR="0" lvl="0" indent="0" algn="l" rtl="0">
                        <a:spcBef>
                          <a:spcPts val="0"/>
                        </a:spcBef>
                        <a:spcAft>
                          <a:spcPts val="0"/>
                        </a:spcAft>
                        <a:buNone/>
                      </a:pPr>
                      <a:r>
                        <a:rPr lang="en-US" sz="1800" dirty="0"/>
                        <a:t>Snehali Kajale</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600" dirty="0"/>
                    </a:p>
                    <a:p>
                      <a:pPr marL="0" marR="0" lvl="0" indent="0" algn="l" rtl="0">
                        <a:spcBef>
                          <a:spcPts val="0"/>
                        </a:spcBef>
                        <a:spcAft>
                          <a:spcPts val="0"/>
                        </a:spcAft>
                        <a:buNone/>
                      </a:pPr>
                      <a:r>
                        <a:rPr lang="en-US" sz="1600" dirty="0"/>
                        <a:t>snehalidk37@gmail.com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sz="1800" dirty="0"/>
                        <a:t>         7030120123</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dirty="0">
                <a:highlight>
                  <a:srgbClr val="FFFF00"/>
                </a:highlight>
              </a:rPr>
              <a:t>Business Intelligence &amp; Innovation</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cs typeface="Times New Roman"/>
                <a:sym typeface="Times New Roman"/>
              </a:rPr>
              <a:t>Smart Business idea generator Ai agent </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29290FB6-CC2E-420E-7109-E71501ABDDC2}"/>
              </a:ext>
            </a:extLst>
          </p:cNvPr>
          <p:cNvPicPr>
            <a:picLocks noChangeAspect="1"/>
          </p:cNvPicPr>
          <p:nvPr/>
        </p:nvPicPr>
        <p:blipFill>
          <a:blip r:embed="rId3"/>
          <a:stretch>
            <a:fillRect/>
          </a:stretch>
        </p:blipFill>
        <p:spPr>
          <a:xfrm>
            <a:off x="3538330" y="3647661"/>
            <a:ext cx="1162880" cy="9769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08723" y="149088"/>
            <a:ext cx="11688416" cy="3816429"/>
          </a:xfrm>
          <a:prstGeom prst="rect">
            <a:avLst/>
          </a:prstGeom>
          <a:noFill/>
        </p:spPr>
        <p:txBody>
          <a:bodyPr wrap="square" rtlCol="0">
            <a:spAutoFit/>
          </a:bodyPr>
          <a:lstStyle/>
          <a:p>
            <a:pPr fontAlgn="base"/>
            <a:r>
              <a:rPr lang="en-US" sz="2800" b="1" dirty="0"/>
              <a:t>Problem Statement </a:t>
            </a:r>
            <a:r>
              <a:rPr lang="en-US" b="1" dirty="0"/>
              <a:t>:</a:t>
            </a:r>
            <a:r>
              <a:rPr lang="en-US" dirty="0"/>
              <a:t> </a:t>
            </a:r>
            <a:r>
              <a:rPr lang="en-US" sz="2800" b="1" dirty="0"/>
              <a:t>Smart Business Idea Generator Agent</a:t>
            </a:r>
          </a:p>
          <a:p>
            <a:endParaRPr lang="en-US" sz="2000" b="1" dirty="0"/>
          </a:p>
          <a:p>
            <a:endParaRPr lang="en-US" sz="2000" b="1" dirty="0"/>
          </a:p>
          <a:p>
            <a:endParaRPr lang="en-US" sz="2000" b="1" dirty="0"/>
          </a:p>
          <a:p>
            <a:r>
              <a:rPr lang="en-US" sz="2000" b="1" dirty="0"/>
              <a:t>The Challenge </a:t>
            </a:r>
          </a:p>
          <a:p>
            <a:pPr algn="just"/>
            <a:r>
              <a:rPr lang="en-US" sz="2000"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startups, research, content creation, or product development</a:t>
            </a:r>
            <a:r>
              <a:rPr lang="en-US" dirty="0"/>
              <a:t>.</a:t>
            </a:r>
          </a:p>
          <a:p>
            <a:pPr algn="just"/>
            <a:endParaRPr lang="en-US"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288235" y="248478"/>
            <a:ext cx="11002617" cy="4770537"/>
          </a:xfrm>
          <a:prstGeom prst="rect">
            <a:avLst/>
          </a:prstGeom>
          <a:noFill/>
        </p:spPr>
        <p:txBody>
          <a:bodyPr wrap="square" rtlCol="0">
            <a:spAutoFit/>
          </a:bodyPr>
          <a:lstStyle/>
          <a:p>
            <a:pPr fontAlgn="base"/>
            <a:endParaRPr lang="en-US" b="1" dirty="0"/>
          </a:p>
          <a:p>
            <a:r>
              <a:rPr lang="en-US" sz="2800" b="1" dirty="0"/>
              <a:t>Proposed Solution: Smart Business Idea Generator Agent</a:t>
            </a:r>
          </a:p>
          <a:p>
            <a:endParaRPr lang="en-US" sz="2800" b="1" dirty="0"/>
          </a:p>
          <a:p>
            <a:pPr algn="just"/>
            <a:r>
              <a:rPr lang="en-US" sz="2000" dirty="0"/>
              <a:t>The </a:t>
            </a:r>
            <a:r>
              <a:rPr lang="en-US" sz="2000" b="1" dirty="0"/>
              <a:t>Smart Business Idea Generator Agent</a:t>
            </a:r>
            <a:r>
              <a:rPr lang="en-US" sz="2000" dirty="0"/>
              <a:t> is an AI-powered assistant built using </a:t>
            </a:r>
            <a:r>
              <a:rPr lang="en-US" sz="2000" b="1" dirty="0"/>
              <a:t>IBM Orchestrate</a:t>
            </a:r>
            <a:r>
              <a:rPr lang="en-US" sz="2000" dirty="0"/>
              <a:t> and </a:t>
            </a:r>
            <a:r>
              <a:rPr lang="en-US" sz="2000" b="1" dirty="0"/>
              <a:t>IBM Granite</a:t>
            </a:r>
            <a:r>
              <a:rPr lang="en-US" sz="2000" dirty="0"/>
              <a:t> that helps users generate innovative, practical, and data-driven business ideas. The agent understands user requirements through text, images, or voice inputs and gathers insights from market trends, research papers, industry news, and emerging technologies.</a:t>
            </a:r>
          </a:p>
          <a:p>
            <a:pPr algn="just"/>
            <a:r>
              <a:rPr lang="en-US" sz="2000" dirty="0"/>
              <a:t>Using an agentic workflow, it analyzes the collected information, identifies business opportunities, and generates multiple tailored business ideas. Each idea is evaluated based on </a:t>
            </a:r>
            <a:r>
              <a:rPr lang="en-US" sz="2000" b="1" dirty="0"/>
              <a:t>innovation, feasibility, scalability, market demand, and potential impact</a:t>
            </a:r>
            <a:r>
              <a:rPr lang="en-US" sz="2000" dirty="0"/>
              <a:t>. The agent also provides recommendations for improvement, suggests relevant technologies, and presents the results through an interactive dashboard with idea maps and feasibility scores, enabling users to make informed business decisions quickly and efficiently.</a:t>
            </a:r>
          </a:p>
          <a:p>
            <a:endParaRPr lang="en-IN"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66308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lgn="just">
              <a:buFont typeface="Arial" panose="020B0604020202020204" pitchFamily="34" charset="0"/>
              <a:buChar char="•"/>
            </a:pPr>
            <a:r>
              <a:rPr lang="en-US" sz="2000" b="1" dirty="0"/>
              <a:t>IBM Granite model </a:t>
            </a:r>
            <a:r>
              <a:rPr lang="en-US" sz="2000" dirty="0"/>
              <a:t>-  for </a:t>
            </a:r>
            <a:r>
              <a:rPr lang="en-US" sz="2000" dirty="0" err="1"/>
              <a:t>eg</a:t>
            </a:r>
            <a:r>
              <a:rPr lang="en-US" sz="2000" dirty="0"/>
              <a:t> – ibm-granite-3-2-8b – For natural language understanding, reasoning, and personalization</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b="1" dirty="0"/>
              <a:t>IBM Cloud </a:t>
            </a:r>
            <a:r>
              <a:rPr lang="en-US" sz="2000" dirty="0"/>
              <a:t>– It provides the infrastructure to build, deploy, and scale the Nutrition Agent efficiently. IBM Cloud enables a </a:t>
            </a:r>
            <a:r>
              <a:rPr lang="en-US" sz="2000" b="1" dirty="0"/>
              <a:t>reliable, secure, and scalable environment</a:t>
            </a:r>
            <a:r>
              <a:rPr lang="en-US" sz="2000" dirty="0"/>
              <a:t> for deploying the Nutrition Agent.</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b="1" dirty="0"/>
              <a:t>RAG– </a:t>
            </a:r>
            <a:r>
              <a:rPr lang="en-US" sz="2000" dirty="0"/>
              <a:t>RAG to </a:t>
            </a:r>
            <a:r>
              <a:rPr lang="en-US" sz="2000" b="1" dirty="0"/>
              <a:t>fetch real data first, then generate intelligent answers</a:t>
            </a:r>
            <a:r>
              <a:rPr lang="en-US" sz="2000" dirty="0"/>
              <a:t>, making the Nutrition Agent more trustworthy and effective.</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US" sz="2000" b="1" dirty="0"/>
              <a:t>IBM Watsonx.ai - </a:t>
            </a:r>
            <a:r>
              <a:rPr lang="en-US" sz="2000" dirty="0"/>
              <a:t>For model deployment, embeddings, and AI governance</a:t>
            </a:r>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r>
              <a:rPr lang="en-IN" sz="2000" b="1" dirty="0"/>
              <a:t>Vector Database </a:t>
            </a:r>
            <a:r>
              <a:rPr lang="en-IN" sz="2000" dirty="0"/>
              <a:t>(FAISS/Chroma) – For RAG-based nutritional data retrieval</a:t>
            </a:r>
            <a:endParaRPr lang="en-US" sz="2000" dirty="0"/>
          </a:p>
          <a:p>
            <a:pPr marL="285750" indent="-285750" algn="just">
              <a:buFont typeface="Arial" panose="020B0604020202020204" pitchFamily="34" charset="0"/>
              <a:buChar char="•"/>
            </a:pPr>
            <a:endParaRPr lang="en-US" sz="2000" dirty="0"/>
          </a:p>
          <a:p>
            <a:pPr marL="285750" indent="-285750" algn="just">
              <a:buFont typeface="Arial" panose="020B0604020202020204" pitchFamily="34" charset="0"/>
              <a:buChar char="•"/>
            </a:pPr>
            <a:endParaRPr lang="en-US" sz="1800" dirty="0"/>
          </a:p>
          <a:p>
            <a:pPr algn="just"/>
            <a:endParaRPr lang="en-US" dirty="0"/>
          </a:p>
          <a:p>
            <a:endParaRPr lang="en-IN" dirty="0"/>
          </a:p>
        </p:txBody>
      </p:sp>
      <p:graphicFrame>
        <p:nvGraphicFramePr>
          <p:cNvPr id="4" name="Table 3">
            <a:extLst>
              <a:ext uri="{FF2B5EF4-FFF2-40B4-BE49-F238E27FC236}">
                <a16:creationId xmlns:a16="http://schemas.microsoft.com/office/drawing/2014/main" id="{CDD0F83E-411B-8E06-2E2A-38179469B562}"/>
              </a:ext>
            </a:extLst>
          </p:cNvPr>
          <p:cNvGraphicFramePr>
            <a:graphicFrameLocks noGrp="1"/>
          </p:cNvGraphicFramePr>
          <p:nvPr>
            <p:extLst>
              <p:ext uri="{D42A27DB-BD31-4B8C-83A1-F6EECF244321}">
                <p14:modId xmlns:p14="http://schemas.microsoft.com/office/powerpoint/2010/main" val="2720440866"/>
              </p:ext>
            </p:extLst>
          </p:nvPr>
        </p:nvGraphicFramePr>
        <p:xfrm>
          <a:off x="838200" y="3848894"/>
          <a:ext cx="10515600" cy="304800"/>
        </p:xfrm>
        <a:graphic>
          <a:graphicData uri="http://schemas.openxmlformats.org/drawingml/2006/table">
            <a:tbl>
              <a:tblPr/>
              <a:tblGrid>
                <a:gridCol w="10515600">
                  <a:extLst>
                    <a:ext uri="{9D8B030D-6E8A-4147-A177-3AD203B41FA5}">
                      <a16:colId xmlns:a16="http://schemas.microsoft.com/office/drawing/2014/main" val="3503969043"/>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91336748"/>
                  </a:ext>
                </a:extLst>
              </a:tr>
            </a:tbl>
          </a:graphicData>
        </a:graphic>
      </p:graphicFrame>
      <p:graphicFrame>
        <p:nvGraphicFramePr>
          <p:cNvPr id="5" name="Table 4">
            <a:extLst>
              <a:ext uri="{FF2B5EF4-FFF2-40B4-BE49-F238E27FC236}">
                <a16:creationId xmlns:a16="http://schemas.microsoft.com/office/drawing/2014/main" id="{33A69608-7985-B748-D854-ABC57A3A6EA4}"/>
              </a:ext>
            </a:extLst>
          </p:cNvPr>
          <p:cNvGraphicFramePr>
            <a:graphicFrameLocks noGrp="1"/>
          </p:cNvGraphicFramePr>
          <p:nvPr>
            <p:extLst>
              <p:ext uri="{D42A27DB-BD31-4B8C-83A1-F6EECF244321}">
                <p14:modId xmlns:p14="http://schemas.microsoft.com/office/powerpoint/2010/main" val="1568579192"/>
              </p:ext>
            </p:extLst>
          </p:nvPr>
        </p:nvGraphicFramePr>
        <p:xfrm>
          <a:off x="838200" y="1093304"/>
          <a:ext cx="10515600" cy="795132"/>
        </p:xfrm>
        <a:graphic>
          <a:graphicData uri="http://schemas.openxmlformats.org/drawingml/2006/table">
            <a:tbl>
              <a:tblPr/>
              <a:tblGrid>
                <a:gridCol w="10515600">
                  <a:extLst>
                    <a:ext uri="{9D8B030D-6E8A-4147-A177-3AD203B41FA5}">
                      <a16:colId xmlns:a16="http://schemas.microsoft.com/office/drawing/2014/main" val="185956585"/>
                    </a:ext>
                  </a:extLst>
                </a:gridCol>
              </a:tblGrid>
              <a:tr h="795132">
                <a:tc>
                  <a:txBody>
                    <a:bodyPr/>
                    <a:lstStyle/>
                    <a:p>
                      <a:pPr marL="342900" indent="-342900" algn="just">
                        <a:buFont typeface="Arial" panose="020B0604020202020204" pitchFamily="34" charset="0"/>
                        <a:buChar char="•"/>
                      </a:pPr>
                      <a:r>
                        <a:rPr lang="en-US" sz="2000" b="1" dirty="0"/>
                        <a:t>IBM Orchestrates - </a:t>
                      </a:r>
                      <a:r>
                        <a:rPr lang="en-US" sz="2000" b="0" dirty="0"/>
                        <a:t>multiple AI agents and automates the business idea generation workflow</a:t>
                      </a:r>
                      <a:r>
                        <a:rPr lang="en-US" b="0" dirty="0"/>
                        <a:t>.</a:t>
                      </a:r>
                    </a:p>
                  </a:txBody>
                  <a:tcPr anchor="ctr">
                    <a:lnL>
                      <a:noFill/>
                    </a:lnL>
                    <a:lnR>
                      <a:noFill/>
                    </a:lnR>
                    <a:lnT>
                      <a:noFill/>
                    </a:lnT>
                    <a:lnB>
                      <a:noFill/>
                    </a:lnB>
                    <a:noFill/>
                  </a:tcPr>
                </a:tc>
                <a:extLst>
                  <a:ext uri="{0D108BD9-81ED-4DB2-BD59-A6C34878D82A}">
                    <a16:rowId xmlns:a16="http://schemas.microsoft.com/office/drawing/2014/main" val="515774544"/>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2031325"/>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graphicFrame>
        <p:nvGraphicFramePr>
          <p:cNvPr id="3" name="Table 2">
            <a:extLst>
              <a:ext uri="{FF2B5EF4-FFF2-40B4-BE49-F238E27FC236}">
                <a16:creationId xmlns:a16="http://schemas.microsoft.com/office/drawing/2014/main" id="{7316F7A8-0FA6-C6F1-2EC0-CE59C7CA9A4C}"/>
              </a:ext>
            </a:extLst>
          </p:cNvPr>
          <p:cNvGraphicFramePr>
            <a:graphicFrameLocks noGrp="1"/>
          </p:cNvGraphicFramePr>
          <p:nvPr>
            <p:extLst>
              <p:ext uri="{D42A27DB-BD31-4B8C-83A1-F6EECF244321}">
                <p14:modId xmlns:p14="http://schemas.microsoft.com/office/powerpoint/2010/main" val="3967582438"/>
              </p:ext>
            </p:extLst>
          </p:nvPr>
        </p:nvGraphicFramePr>
        <p:xfrm>
          <a:off x="228601" y="701490"/>
          <a:ext cx="11558152" cy="5913120"/>
        </p:xfrm>
        <a:graphic>
          <a:graphicData uri="http://schemas.openxmlformats.org/drawingml/2006/table">
            <a:tbl>
              <a:tblPr/>
              <a:tblGrid>
                <a:gridCol w="5779076">
                  <a:extLst>
                    <a:ext uri="{9D8B030D-6E8A-4147-A177-3AD203B41FA5}">
                      <a16:colId xmlns:a16="http://schemas.microsoft.com/office/drawing/2014/main" val="749608314"/>
                    </a:ext>
                  </a:extLst>
                </a:gridCol>
                <a:gridCol w="5779076">
                  <a:extLst>
                    <a:ext uri="{9D8B030D-6E8A-4147-A177-3AD203B41FA5}">
                      <a16:colId xmlns:a16="http://schemas.microsoft.com/office/drawing/2014/main" val="1552009220"/>
                    </a:ext>
                  </a:extLst>
                </a:gridCol>
              </a:tblGrid>
              <a:tr h="387020">
                <a:tc>
                  <a:txBody>
                    <a:bodyPr/>
                    <a:lstStyle/>
                    <a:p>
                      <a:pPr>
                        <a:buNone/>
                      </a:pPr>
                      <a:r>
                        <a:rPr lang="en-IN" sz="2000" b="1" dirty="0"/>
                        <a:t>IBM Orchestrate Component</a:t>
                      </a:r>
                      <a:endParaRPr lang="en-IN" sz="2000" dirty="0"/>
                    </a:p>
                  </a:txBody>
                  <a:tcPr anchor="ctr">
                    <a:lnL>
                      <a:noFill/>
                    </a:lnL>
                    <a:lnR>
                      <a:noFill/>
                    </a:lnR>
                    <a:lnT>
                      <a:noFill/>
                    </a:lnT>
                    <a:lnB>
                      <a:noFill/>
                    </a:lnB>
                    <a:noFill/>
                  </a:tcPr>
                </a:tc>
                <a:tc>
                  <a:txBody>
                    <a:bodyPr/>
                    <a:lstStyle/>
                    <a:p>
                      <a:pPr>
                        <a:buNone/>
                      </a:pPr>
                      <a:r>
                        <a:rPr lang="en-IN" sz="2000" b="1"/>
                        <a:t>Purpose in the Project</a:t>
                      </a:r>
                      <a:endParaRPr lang="en-IN" sz="2000"/>
                    </a:p>
                  </a:txBody>
                  <a:tcPr anchor="ctr">
                    <a:lnL>
                      <a:noFill/>
                    </a:lnL>
                    <a:lnR>
                      <a:noFill/>
                    </a:lnR>
                    <a:lnT>
                      <a:noFill/>
                    </a:lnT>
                    <a:lnB>
                      <a:noFill/>
                    </a:lnB>
                    <a:noFill/>
                  </a:tcPr>
                </a:tc>
                <a:extLst>
                  <a:ext uri="{0D108BD9-81ED-4DB2-BD59-A6C34878D82A}">
                    <a16:rowId xmlns:a16="http://schemas.microsoft.com/office/drawing/2014/main" val="3164892638"/>
                  </a:ext>
                </a:extLst>
              </a:tr>
              <a:tr h="684728">
                <a:tc>
                  <a:txBody>
                    <a:bodyPr/>
                    <a:lstStyle/>
                    <a:p>
                      <a:pPr>
                        <a:buNone/>
                      </a:pPr>
                      <a:r>
                        <a:rPr lang="en-IN" sz="2000" b="1" dirty="0"/>
                        <a:t>AI Agent</a:t>
                      </a:r>
                      <a:endParaRPr lang="en-IN" sz="2000" dirty="0"/>
                    </a:p>
                  </a:txBody>
                  <a:tcPr anchor="ctr">
                    <a:lnL>
                      <a:noFill/>
                    </a:lnL>
                    <a:lnR>
                      <a:noFill/>
                    </a:lnR>
                    <a:lnT>
                      <a:noFill/>
                    </a:lnT>
                    <a:lnB>
                      <a:noFill/>
                    </a:lnB>
                    <a:noFill/>
                  </a:tcPr>
                </a:tc>
                <a:tc>
                  <a:txBody>
                    <a:bodyPr/>
                    <a:lstStyle/>
                    <a:p>
                      <a:pPr>
                        <a:buNone/>
                      </a:pPr>
                      <a:r>
                        <a:rPr lang="en-US" sz="2000"/>
                        <a:t>Acts as the Smart Business Idea Generator and interacts with users.</a:t>
                      </a:r>
                    </a:p>
                  </a:txBody>
                  <a:tcPr anchor="ctr">
                    <a:lnL>
                      <a:noFill/>
                    </a:lnL>
                    <a:lnR>
                      <a:noFill/>
                    </a:lnR>
                    <a:lnT>
                      <a:noFill/>
                    </a:lnT>
                    <a:lnB>
                      <a:noFill/>
                    </a:lnB>
                    <a:noFill/>
                  </a:tcPr>
                </a:tc>
                <a:extLst>
                  <a:ext uri="{0D108BD9-81ED-4DB2-BD59-A6C34878D82A}">
                    <a16:rowId xmlns:a16="http://schemas.microsoft.com/office/drawing/2014/main" val="2606578504"/>
                  </a:ext>
                </a:extLst>
              </a:tr>
              <a:tr h="982434">
                <a:tc>
                  <a:txBody>
                    <a:bodyPr/>
                    <a:lstStyle/>
                    <a:p>
                      <a:pPr>
                        <a:buNone/>
                      </a:pPr>
                      <a:r>
                        <a:rPr lang="en-IN" sz="2000" b="1" dirty="0"/>
                        <a:t>Skills</a:t>
                      </a:r>
                      <a:endParaRPr lang="en-IN" sz="2000" dirty="0"/>
                    </a:p>
                  </a:txBody>
                  <a:tcPr anchor="ctr">
                    <a:lnL>
                      <a:noFill/>
                    </a:lnL>
                    <a:lnR>
                      <a:noFill/>
                    </a:lnR>
                    <a:lnT>
                      <a:noFill/>
                    </a:lnT>
                    <a:lnB>
                      <a:noFill/>
                    </a:lnB>
                    <a:noFill/>
                  </a:tcPr>
                </a:tc>
                <a:tc>
                  <a:txBody>
                    <a:bodyPr/>
                    <a:lstStyle/>
                    <a:p>
                      <a:pPr>
                        <a:buNone/>
                      </a:pPr>
                      <a:r>
                        <a:rPr lang="en-US" sz="2000"/>
                        <a:t>Performs specific tasks such as understanding user requirements, trend analysis, idea generation, and feasibility evaluation.</a:t>
                      </a:r>
                    </a:p>
                  </a:txBody>
                  <a:tcPr anchor="ctr">
                    <a:lnL>
                      <a:noFill/>
                    </a:lnL>
                    <a:lnR>
                      <a:noFill/>
                    </a:lnR>
                    <a:lnT>
                      <a:noFill/>
                    </a:lnT>
                    <a:lnB>
                      <a:noFill/>
                    </a:lnB>
                    <a:noFill/>
                  </a:tcPr>
                </a:tc>
                <a:extLst>
                  <a:ext uri="{0D108BD9-81ED-4DB2-BD59-A6C34878D82A}">
                    <a16:rowId xmlns:a16="http://schemas.microsoft.com/office/drawing/2014/main" val="2859231027"/>
                  </a:ext>
                </a:extLst>
              </a:tr>
              <a:tr h="684728">
                <a:tc>
                  <a:txBody>
                    <a:bodyPr/>
                    <a:lstStyle/>
                    <a:p>
                      <a:pPr>
                        <a:buNone/>
                      </a:pPr>
                      <a:r>
                        <a:rPr lang="en-IN" sz="2000" b="1" dirty="0"/>
                        <a:t>Workflows</a:t>
                      </a:r>
                      <a:endParaRPr lang="en-IN" sz="2000" dirty="0"/>
                    </a:p>
                  </a:txBody>
                  <a:tcPr anchor="ctr">
                    <a:lnL>
                      <a:noFill/>
                    </a:lnL>
                    <a:lnR>
                      <a:noFill/>
                    </a:lnR>
                    <a:lnT>
                      <a:noFill/>
                    </a:lnT>
                    <a:lnB>
                      <a:noFill/>
                    </a:lnB>
                    <a:noFill/>
                  </a:tcPr>
                </a:tc>
                <a:tc>
                  <a:txBody>
                    <a:bodyPr/>
                    <a:lstStyle/>
                    <a:p>
                      <a:pPr>
                        <a:buNone/>
                      </a:pPr>
                      <a:r>
                        <a:rPr lang="en-US" sz="2000" dirty="0"/>
                        <a:t>Coordinates the sequence of tasks between different AI skills and agents.</a:t>
                      </a:r>
                    </a:p>
                  </a:txBody>
                  <a:tcPr anchor="ctr">
                    <a:lnL>
                      <a:noFill/>
                    </a:lnL>
                    <a:lnR>
                      <a:noFill/>
                    </a:lnR>
                    <a:lnT>
                      <a:noFill/>
                    </a:lnT>
                    <a:lnB>
                      <a:noFill/>
                    </a:lnB>
                    <a:noFill/>
                  </a:tcPr>
                </a:tc>
                <a:extLst>
                  <a:ext uri="{0D108BD9-81ED-4DB2-BD59-A6C34878D82A}">
                    <a16:rowId xmlns:a16="http://schemas.microsoft.com/office/drawing/2014/main" val="3511914561"/>
                  </a:ext>
                </a:extLst>
              </a:tr>
              <a:tr h="684728">
                <a:tc>
                  <a:txBody>
                    <a:bodyPr/>
                    <a:lstStyle/>
                    <a:p>
                      <a:pPr>
                        <a:buNone/>
                      </a:pPr>
                      <a:r>
                        <a:rPr lang="en-IN" sz="2000" b="1" dirty="0"/>
                        <a:t>IBM Granite Model</a:t>
                      </a:r>
                      <a:endParaRPr lang="en-IN" sz="2000" dirty="0"/>
                    </a:p>
                  </a:txBody>
                  <a:tcPr anchor="ctr">
                    <a:lnL>
                      <a:noFill/>
                    </a:lnL>
                    <a:lnR>
                      <a:noFill/>
                    </a:lnR>
                    <a:lnT>
                      <a:noFill/>
                    </a:lnT>
                    <a:lnB>
                      <a:noFill/>
                    </a:lnB>
                    <a:noFill/>
                  </a:tcPr>
                </a:tc>
                <a:tc>
                  <a:txBody>
                    <a:bodyPr/>
                    <a:lstStyle/>
                    <a:p>
                      <a:pPr>
                        <a:buNone/>
                      </a:pPr>
                      <a:r>
                        <a:rPr lang="en-US" sz="2000" dirty="0"/>
                        <a:t>Generates creative business ideas, analyzes user input, and provides recommendations.</a:t>
                      </a:r>
                    </a:p>
                  </a:txBody>
                  <a:tcPr anchor="ctr">
                    <a:lnL>
                      <a:noFill/>
                    </a:lnL>
                    <a:lnR>
                      <a:noFill/>
                    </a:lnR>
                    <a:lnT>
                      <a:noFill/>
                    </a:lnT>
                    <a:lnB>
                      <a:noFill/>
                    </a:lnB>
                    <a:noFill/>
                  </a:tcPr>
                </a:tc>
                <a:extLst>
                  <a:ext uri="{0D108BD9-81ED-4DB2-BD59-A6C34878D82A}">
                    <a16:rowId xmlns:a16="http://schemas.microsoft.com/office/drawing/2014/main" val="1878842339"/>
                  </a:ext>
                </a:extLst>
              </a:tr>
              <a:tr h="684728">
                <a:tc>
                  <a:txBody>
                    <a:bodyPr/>
                    <a:lstStyle/>
                    <a:p>
                      <a:pPr>
                        <a:buNone/>
                      </a:pPr>
                      <a:r>
                        <a:rPr lang="en-IN" sz="2000" b="1" dirty="0"/>
                        <a:t>Prompt Templates</a:t>
                      </a:r>
                      <a:endParaRPr lang="en-IN" sz="2000" dirty="0"/>
                    </a:p>
                  </a:txBody>
                  <a:tcPr anchor="ctr">
                    <a:lnL>
                      <a:noFill/>
                    </a:lnL>
                    <a:lnR>
                      <a:noFill/>
                    </a:lnR>
                    <a:lnT>
                      <a:noFill/>
                    </a:lnT>
                    <a:lnB>
                      <a:noFill/>
                    </a:lnB>
                    <a:noFill/>
                  </a:tcPr>
                </a:tc>
                <a:tc>
                  <a:txBody>
                    <a:bodyPr/>
                    <a:lstStyle/>
                    <a:p>
                      <a:pPr>
                        <a:buNone/>
                      </a:pPr>
                      <a:r>
                        <a:rPr lang="en-US" sz="2000" dirty="0"/>
                        <a:t>Guides the AI to produce structured and consistent outputs.</a:t>
                      </a:r>
                    </a:p>
                  </a:txBody>
                  <a:tcPr anchor="ctr">
                    <a:lnL>
                      <a:noFill/>
                    </a:lnL>
                    <a:lnR>
                      <a:noFill/>
                    </a:lnR>
                    <a:lnT>
                      <a:noFill/>
                    </a:lnT>
                    <a:lnB>
                      <a:noFill/>
                    </a:lnB>
                    <a:noFill/>
                  </a:tcPr>
                </a:tc>
                <a:extLst>
                  <a:ext uri="{0D108BD9-81ED-4DB2-BD59-A6C34878D82A}">
                    <a16:rowId xmlns:a16="http://schemas.microsoft.com/office/drawing/2014/main" val="2383712155"/>
                  </a:ext>
                </a:extLst>
              </a:tr>
              <a:tr h="982434">
                <a:tc>
                  <a:txBody>
                    <a:bodyPr/>
                    <a:lstStyle/>
                    <a:p>
                      <a:pPr>
                        <a:buNone/>
                      </a:pPr>
                      <a:r>
                        <a:rPr lang="en-IN" sz="2000" b="1" dirty="0"/>
                        <a:t>Knowledge Sources</a:t>
                      </a:r>
                      <a:endParaRPr lang="en-IN" sz="2000" dirty="0"/>
                    </a:p>
                  </a:txBody>
                  <a:tcPr anchor="ctr">
                    <a:lnL>
                      <a:noFill/>
                    </a:lnL>
                    <a:lnR>
                      <a:noFill/>
                    </a:lnR>
                    <a:lnT>
                      <a:noFill/>
                    </a:lnT>
                    <a:lnB>
                      <a:noFill/>
                    </a:lnB>
                    <a:noFill/>
                  </a:tcPr>
                </a:tc>
                <a:tc>
                  <a:txBody>
                    <a:bodyPr/>
                    <a:lstStyle/>
                    <a:p>
                      <a:pPr>
                        <a:buNone/>
                      </a:pPr>
                      <a:r>
                        <a:rPr lang="en-US" sz="2000" dirty="0"/>
                        <a:t>Provides context by using connected articles, documents, research papers, and other data sources.</a:t>
                      </a:r>
                    </a:p>
                  </a:txBody>
                  <a:tcPr anchor="ctr">
                    <a:lnL>
                      <a:noFill/>
                    </a:lnL>
                    <a:lnR>
                      <a:noFill/>
                    </a:lnR>
                    <a:lnT>
                      <a:noFill/>
                    </a:lnT>
                    <a:lnB>
                      <a:noFill/>
                    </a:lnB>
                    <a:noFill/>
                  </a:tcPr>
                </a:tc>
                <a:extLst>
                  <a:ext uri="{0D108BD9-81ED-4DB2-BD59-A6C34878D82A}">
                    <a16:rowId xmlns:a16="http://schemas.microsoft.com/office/drawing/2014/main" val="1097292053"/>
                  </a:ext>
                </a:extLst>
              </a:tr>
              <a:tr h="684728">
                <a:tc>
                  <a:txBody>
                    <a:bodyPr/>
                    <a:lstStyle/>
                    <a:p>
                      <a:pPr>
                        <a:buNone/>
                      </a:pPr>
                      <a:r>
                        <a:rPr lang="en-IN" sz="2000" b="1"/>
                        <a:t>Conversation Interface</a:t>
                      </a:r>
                      <a:endParaRPr lang="en-IN" sz="2000"/>
                    </a:p>
                  </a:txBody>
                  <a:tcPr anchor="ctr">
                    <a:lnL>
                      <a:noFill/>
                    </a:lnL>
                    <a:lnR>
                      <a:noFill/>
                    </a:lnR>
                    <a:lnT>
                      <a:noFill/>
                    </a:lnT>
                    <a:lnB>
                      <a:noFill/>
                    </a:lnB>
                    <a:noFill/>
                  </a:tcPr>
                </a:tc>
                <a:tc>
                  <a:txBody>
                    <a:bodyPr/>
                    <a:lstStyle/>
                    <a:p>
                      <a:pPr>
                        <a:buNone/>
                      </a:pPr>
                      <a:r>
                        <a:rPr lang="en-US" sz="2000" dirty="0"/>
                        <a:t>Enables users to interact with the AI agent using natural language.</a:t>
                      </a:r>
                    </a:p>
                  </a:txBody>
                  <a:tcPr anchor="ctr">
                    <a:lnL>
                      <a:noFill/>
                    </a:lnL>
                    <a:lnR>
                      <a:noFill/>
                    </a:lnR>
                    <a:lnT>
                      <a:noFill/>
                    </a:lnT>
                    <a:lnB>
                      <a:noFill/>
                    </a:lnB>
                    <a:noFill/>
                  </a:tcPr>
                </a:tc>
                <a:extLst>
                  <a:ext uri="{0D108BD9-81ED-4DB2-BD59-A6C34878D82A}">
                    <a16:rowId xmlns:a16="http://schemas.microsoft.com/office/drawing/2014/main" val="391106065"/>
                  </a:ext>
                </a:extLst>
              </a:tr>
            </a:tbl>
          </a:graphicData>
        </a:graphic>
      </p:graphicFrame>
      <p:sp>
        <p:nvSpPr>
          <p:cNvPr id="4" name="Rectangle 1">
            <a:extLst>
              <a:ext uri="{FF2B5EF4-FFF2-40B4-BE49-F238E27FC236}">
                <a16:creationId xmlns:a16="http://schemas.microsoft.com/office/drawing/2014/main" id="{979480AA-2C02-9DD9-5044-B7A83771FB7F}"/>
              </a:ext>
            </a:extLst>
          </p:cNvPr>
          <p:cNvSpPr>
            <a:spLocks noChangeArrowheads="1"/>
          </p:cNvSpPr>
          <p:nvPr/>
        </p:nvSpPr>
        <p:spPr bwMode="auto">
          <a:xfrm>
            <a:off x="228601" y="219287"/>
            <a:ext cx="12801600"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IBM Orchestrate Components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800" b="1" dirty="0"/>
              <a:t>Orchestrate </a:t>
            </a:r>
            <a:r>
              <a:rPr lang="en-US" sz="2800" b="1" dirty="0">
                <a:sym typeface="Times New Roman"/>
              </a:rPr>
              <a:t>workflow -</a:t>
            </a:r>
            <a:endParaRPr sz="2800" b="1" dirty="0">
              <a:sym typeface="Times New Roman"/>
            </a:endParaRPr>
          </a:p>
        </p:txBody>
      </p:sp>
      <p:pic>
        <p:nvPicPr>
          <p:cNvPr id="4" name="Picture 3">
            <a:extLst>
              <a:ext uri="{FF2B5EF4-FFF2-40B4-BE49-F238E27FC236}">
                <a16:creationId xmlns:a16="http://schemas.microsoft.com/office/drawing/2014/main" id="{93994144-4847-588E-335F-13B4D55D1634}"/>
              </a:ext>
            </a:extLst>
          </p:cNvPr>
          <p:cNvPicPr>
            <a:picLocks noChangeAspect="1"/>
          </p:cNvPicPr>
          <p:nvPr/>
        </p:nvPicPr>
        <p:blipFill>
          <a:blip r:embed="rId3"/>
          <a:stretch>
            <a:fillRect/>
          </a:stretch>
        </p:blipFill>
        <p:spPr>
          <a:xfrm>
            <a:off x="178905" y="864704"/>
            <a:ext cx="3836504" cy="4075044"/>
          </a:xfrm>
          <a:prstGeom prst="rect">
            <a:avLst/>
          </a:prstGeom>
        </p:spPr>
      </p:pic>
      <p:pic>
        <p:nvPicPr>
          <p:cNvPr id="7" name="Picture 6">
            <a:extLst>
              <a:ext uri="{FF2B5EF4-FFF2-40B4-BE49-F238E27FC236}">
                <a16:creationId xmlns:a16="http://schemas.microsoft.com/office/drawing/2014/main" id="{0B7F135B-6852-1CDA-A2E0-2CFF5AE741F4}"/>
              </a:ext>
            </a:extLst>
          </p:cNvPr>
          <p:cNvPicPr>
            <a:picLocks noChangeAspect="1"/>
          </p:cNvPicPr>
          <p:nvPr/>
        </p:nvPicPr>
        <p:blipFill>
          <a:blip r:embed="rId4"/>
          <a:stretch>
            <a:fillRect/>
          </a:stretch>
        </p:blipFill>
        <p:spPr>
          <a:xfrm>
            <a:off x="4015409" y="851416"/>
            <a:ext cx="3955774" cy="4101619"/>
          </a:xfrm>
          <a:prstGeom prst="rect">
            <a:avLst/>
          </a:prstGeom>
        </p:spPr>
      </p:pic>
      <p:pic>
        <p:nvPicPr>
          <p:cNvPr id="11" name="Picture 10">
            <a:extLst>
              <a:ext uri="{FF2B5EF4-FFF2-40B4-BE49-F238E27FC236}">
                <a16:creationId xmlns:a16="http://schemas.microsoft.com/office/drawing/2014/main" id="{08F5B5D8-43A6-9AD7-674D-39E7167E9E3E}"/>
              </a:ext>
            </a:extLst>
          </p:cNvPr>
          <p:cNvPicPr>
            <a:picLocks noChangeAspect="1"/>
          </p:cNvPicPr>
          <p:nvPr/>
        </p:nvPicPr>
        <p:blipFill>
          <a:blip r:embed="rId5"/>
          <a:stretch>
            <a:fillRect/>
          </a:stretch>
        </p:blipFill>
        <p:spPr>
          <a:xfrm>
            <a:off x="7971183" y="787640"/>
            <a:ext cx="3559741" cy="422917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0059C854-6981-8D6F-DD14-7B83CC312AED}"/>
              </a:ext>
            </a:extLst>
          </p:cNvPr>
          <p:cNvPicPr>
            <a:picLocks noChangeAspect="1"/>
          </p:cNvPicPr>
          <p:nvPr/>
        </p:nvPicPr>
        <p:blipFill>
          <a:blip r:embed="rId3"/>
          <a:stretch>
            <a:fillRect/>
          </a:stretch>
        </p:blipFill>
        <p:spPr>
          <a:xfrm>
            <a:off x="537590" y="771746"/>
            <a:ext cx="10701910" cy="58377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10038522" y="119270"/>
            <a:ext cx="2004391" cy="302149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561920" y="293404"/>
            <a:ext cx="9317736" cy="523220"/>
          </a:xfrm>
          <a:prstGeom prst="rect">
            <a:avLst/>
          </a:prstGeom>
          <a:noFill/>
        </p:spPr>
        <p:txBody>
          <a:bodyPr wrap="square" rtlCol="0">
            <a:spAutoFit/>
          </a:bodyPr>
          <a:lstStyle/>
          <a:p>
            <a:r>
              <a:rPr lang="en-US" sz="2800" b="1" dirty="0"/>
              <a:t>Role of Agentic AI in the solution </a:t>
            </a:r>
            <a:endParaRPr lang="en-IN" sz="28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149087" y="745435"/>
            <a:ext cx="9889435" cy="5663089"/>
          </a:xfrm>
          <a:prstGeom prst="rect">
            <a:avLst/>
          </a:prstGeom>
          <a:noFill/>
        </p:spPr>
        <p:txBody>
          <a:bodyPr wrap="square" rtlCol="0">
            <a:spAutoFit/>
          </a:bodyPr>
          <a:lstStyle/>
          <a:p>
            <a:r>
              <a:rPr lang="en-US" sz="2800" b="1" dirty="0"/>
              <a:t>Role of Agentic AI in Smart business idea generator </a:t>
            </a:r>
          </a:p>
          <a:p>
            <a:endParaRPr lang="en-US" b="1" dirty="0"/>
          </a:p>
          <a:p>
            <a:pPr marL="342900" indent="-342900" algn="just">
              <a:buFont typeface="Arial" panose="020B0604020202020204" pitchFamily="34" charset="0"/>
              <a:buChar char="•"/>
            </a:pPr>
            <a:r>
              <a:rPr lang="en-US" sz="2000" b="1" dirty="0"/>
              <a:t>Understands User Intent:</a:t>
            </a:r>
            <a:r>
              <a:rPr lang="en-US" sz="2000" dirty="0"/>
              <a:t> Interprets user requirements from text, voice, or image inputs to identify business goals and preferences. </a:t>
            </a:r>
          </a:p>
          <a:p>
            <a:pPr marL="342900" indent="-342900" algn="just">
              <a:buFont typeface="Arial" panose="020B0604020202020204" pitchFamily="34" charset="0"/>
              <a:buChar char="•"/>
            </a:pPr>
            <a:r>
              <a:rPr lang="en-US" sz="2000" b="1" dirty="0"/>
              <a:t>Autonomous Task Execution:</a:t>
            </a:r>
            <a:r>
              <a:rPr lang="en-US" sz="2000" dirty="0"/>
              <a:t> Independently performs tasks such as trend analysis, research collection, idea generation, and business evaluation. </a:t>
            </a:r>
          </a:p>
          <a:p>
            <a:pPr marL="342900" indent="-342900" algn="just">
              <a:buFont typeface="Arial" panose="020B0604020202020204" pitchFamily="34" charset="0"/>
              <a:buChar char="•"/>
            </a:pPr>
            <a:r>
              <a:rPr lang="en-US" sz="2000" b="1" dirty="0"/>
              <a:t>Context-Aware Decision Making:</a:t>
            </a:r>
            <a:r>
              <a:rPr lang="en-US" sz="2000" dirty="0"/>
              <a:t> Combines information from multiple knowledge sources to generate relevant and personalized business ideas. </a:t>
            </a:r>
          </a:p>
          <a:p>
            <a:pPr marL="342900" indent="-342900" algn="just">
              <a:buFont typeface="Arial" panose="020B0604020202020204" pitchFamily="34" charset="0"/>
              <a:buChar char="•"/>
            </a:pPr>
            <a:r>
              <a:rPr lang="en-US" sz="2000" b="1" dirty="0"/>
              <a:t>Multi-Agent Collaboration:</a:t>
            </a:r>
            <a:r>
              <a:rPr lang="en-US" sz="2000" dirty="0"/>
              <a:t> Coordinates specialized AI agents (Intent, Research, Trend Analysis, Idea Generation, and Feasibility) through IBM Orchestrate to complete the workflow efficiently. </a:t>
            </a:r>
          </a:p>
          <a:p>
            <a:pPr marL="342900" indent="-342900" algn="just">
              <a:buFont typeface="Arial" panose="020B0604020202020204" pitchFamily="34" charset="0"/>
              <a:buChar char="•"/>
            </a:pPr>
            <a:r>
              <a:rPr lang="en-US" sz="2000" b="1" dirty="0"/>
              <a:t>Idea Evaluation:</a:t>
            </a:r>
            <a:r>
              <a:rPr lang="en-US" sz="2000" dirty="0"/>
              <a:t> Assesses each idea based on innovation, feasibility, market demand, scalability, and potential impact. </a:t>
            </a:r>
          </a:p>
          <a:p>
            <a:pPr marL="342900" indent="-342900" algn="just">
              <a:buFont typeface="Arial" panose="020B0604020202020204" pitchFamily="34" charset="0"/>
              <a:buChar char="•"/>
            </a:pPr>
            <a:r>
              <a:rPr lang="en-US" sz="2000" b="1" dirty="0"/>
              <a:t>Actionable Recommendations:</a:t>
            </a:r>
            <a:r>
              <a:rPr lang="en-US" sz="2000" dirty="0"/>
              <a:t> Suggests improvements, emerging technologies, and implementation strategies to refine business concepts. </a:t>
            </a:r>
          </a:p>
          <a:p>
            <a:pPr marL="342900" indent="-342900" algn="just">
              <a:buFont typeface="Arial" panose="020B0604020202020204" pitchFamily="34" charset="0"/>
              <a:buChar char="•"/>
            </a:pPr>
            <a:r>
              <a:rPr lang="en-US" sz="2000" b="1" dirty="0"/>
              <a:t>Continuous Learning:</a:t>
            </a:r>
            <a:r>
              <a:rPr lang="en-US" sz="2000" dirty="0"/>
              <a:t> Adapts recommendations based on user feedback and updated market trends, improving the quality of future suggestions. </a:t>
            </a:r>
          </a:p>
          <a:p>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129209" y="79513"/>
            <a:ext cx="7771207" cy="523220"/>
          </a:xfrm>
          <a:prstGeom prst="rect">
            <a:avLst/>
          </a:prstGeom>
          <a:noFill/>
        </p:spPr>
        <p:txBody>
          <a:bodyPr wrap="square" rtlCol="0">
            <a:spAutoFit/>
          </a:bodyPr>
          <a:lstStyle/>
          <a:p>
            <a:r>
              <a:rPr lang="en-US" sz="2800" b="1" dirty="0"/>
              <a:t>Novelty and Uniqueness</a:t>
            </a:r>
            <a:endParaRPr lang="en-IN" sz="2800" b="1" dirty="0"/>
          </a:p>
        </p:txBody>
      </p:sp>
      <p:sp>
        <p:nvSpPr>
          <p:cNvPr id="5" name="TextBox 4">
            <a:extLst>
              <a:ext uri="{FF2B5EF4-FFF2-40B4-BE49-F238E27FC236}">
                <a16:creationId xmlns:a16="http://schemas.microsoft.com/office/drawing/2014/main" id="{17B25C01-409F-8D90-7C89-004B1080C1F2}"/>
              </a:ext>
            </a:extLst>
          </p:cNvPr>
          <p:cNvSpPr txBox="1"/>
          <p:nvPr/>
        </p:nvSpPr>
        <p:spPr>
          <a:xfrm>
            <a:off x="248478" y="602734"/>
            <a:ext cx="10952922" cy="6175753"/>
          </a:xfrm>
          <a:prstGeom prst="rect">
            <a:avLst/>
          </a:prstGeom>
          <a:noFill/>
        </p:spPr>
        <p:txBody>
          <a:bodyPr wrap="square">
            <a:spAutoFit/>
          </a:bodyPr>
          <a:lstStyle/>
          <a:p>
            <a:pPr algn="just">
              <a:buNone/>
            </a:pPr>
            <a:r>
              <a:rPr lang="en-US" sz="2000" b="1" dirty="0"/>
              <a:t>What Makes the Smart Business Idea Generator Agent Unique?</a:t>
            </a:r>
          </a:p>
          <a:p>
            <a:pPr algn="just">
              <a:buFont typeface="Arial" panose="020B0604020202020204" pitchFamily="34" charset="0"/>
              <a:buChar char="•"/>
            </a:pPr>
            <a:r>
              <a:rPr lang="en-US" sz="2000" b="1" dirty="0"/>
              <a:t>Multi-Agent AI Architecture:</a:t>
            </a:r>
            <a:r>
              <a:rPr lang="en-US" sz="2000" dirty="0"/>
              <a:t> Instead of relying on a single AI model, the solution uses multiple specialized AI agents coordinated through </a:t>
            </a:r>
            <a:r>
              <a:rPr lang="en-US" sz="2000" b="1" dirty="0"/>
              <a:t>IBM Orchestrate</a:t>
            </a:r>
            <a:r>
              <a:rPr lang="en-US" sz="2000" dirty="0"/>
              <a:t> for research, trend analysis, idea generation, and evaluation. </a:t>
            </a:r>
          </a:p>
          <a:p>
            <a:pPr algn="just">
              <a:buFont typeface="Arial" panose="020B0604020202020204" pitchFamily="34" charset="0"/>
              <a:buChar char="•"/>
            </a:pPr>
            <a:r>
              <a:rPr lang="en-US" sz="2000" b="1" dirty="0"/>
              <a:t>Context-Aware Idea Generation:</a:t>
            </a:r>
            <a:r>
              <a:rPr lang="en-US" sz="2000" dirty="0"/>
              <a:t> Generates personalized business ideas by understanding user goals, industry, target audience, and constraints rather than providing generic suggestions. </a:t>
            </a:r>
          </a:p>
          <a:p>
            <a:pPr algn="just">
              <a:buFont typeface="Arial" panose="020B0604020202020204" pitchFamily="34" charset="0"/>
              <a:buChar char="•"/>
            </a:pPr>
            <a:r>
              <a:rPr lang="en-US" sz="2000" b="1" dirty="0"/>
              <a:t>Knowledge Fusion:</a:t>
            </a:r>
            <a:r>
              <a:rPr lang="en-US" sz="2000" dirty="0"/>
              <a:t> Combines insights from </a:t>
            </a:r>
            <a:r>
              <a:rPr lang="en-US" sz="2000" b="1" dirty="0"/>
              <a:t>research papers, market trends, industry reports, news articles, and social platforms</a:t>
            </a:r>
            <a:r>
              <a:rPr lang="en-US" sz="2000" dirty="0"/>
              <a:t> to produce relevant and up-to-date recommendations. </a:t>
            </a:r>
          </a:p>
          <a:p>
            <a:pPr algn="just">
              <a:buFont typeface="Arial" panose="020B0604020202020204" pitchFamily="34" charset="0"/>
              <a:buChar char="•"/>
            </a:pPr>
            <a:r>
              <a:rPr lang="en-US" sz="2000" b="1" dirty="0"/>
              <a:t>Multimodal Interaction:</a:t>
            </a:r>
            <a:r>
              <a:rPr lang="en-US" sz="2000" dirty="0"/>
              <a:t> Supports </a:t>
            </a:r>
            <a:r>
              <a:rPr lang="en-US" sz="2000" b="1" dirty="0"/>
              <a:t>text, voice, and image</a:t>
            </a:r>
            <a:r>
              <a:rPr lang="en-US" sz="2000" dirty="0"/>
              <a:t> inputs, enabling users to brainstorm ideas in the way that is most convenient for them. </a:t>
            </a:r>
          </a:p>
          <a:p>
            <a:pPr algn="just">
              <a:buFont typeface="Arial" panose="020B0604020202020204" pitchFamily="34" charset="0"/>
              <a:buChar char="•"/>
            </a:pPr>
            <a:r>
              <a:rPr lang="en-US" sz="2000" b="1" dirty="0"/>
              <a:t>Intelligent Idea Evaluation:</a:t>
            </a:r>
            <a:r>
              <a:rPr lang="en-US" sz="2000" dirty="0"/>
              <a:t> Automatically assesses each idea based on </a:t>
            </a:r>
            <a:r>
              <a:rPr lang="en-US" sz="2000" b="1" dirty="0"/>
              <a:t>innovation, feasibility, scalability, market demand, and potential impact</a:t>
            </a:r>
            <a:r>
              <a:rPr lang="en-US" sz="2000" dirty="0"/>
              <a:t>, helping users identify the most promising opportunities. </a:t>
            </a:r>
          </a:p>
          <a:p>
            <a:pPr algn="just">
              <a:buFont typeface="Arial" panose="020B0604020202020204" pitchFamily="34" charset="0"/>
              <a:buChar char="•"/>
            </a:pPr>
            <a:r>
              <a:rPr lang="en-US" sz="2000" b="1" dirty="0"/>
              <a:t>Interactive Idea Visualization:</a:t>
            </a:r>
            <a:r>
              <a:rPr lang="en-US" sz="2000" dirty="0"/>
              <a:t> Organizes generated ideas into </a:t>
            </a:r>
            <a:r>
              <a:rPr lang="en-US" sz="2000" b="1" dirty="0"/>
              <a:t>categories, feasibility scores, impact scores, and idea maps</a:t>
            </a:r>
            <a:r>
              <a:rPr lang="en-US" sz="2000" dirty="0"/>
              <a:t>, making it easier to compare and refine concepts. </a:t>
            </a:r>
          </a:p>
          <a:p>
            <a:pPr algn="just">
              <a:buFont typeface="Arial" panose="020B0604020202020204" pitchFamily="34" charset="0"/>
              <a:buChar char="•"/>
            </a:pPr>
            <a:r>
              <a:rPr lang="en-US" sz="2000" b="1" dirty="0"/>
              <a:t>Action-Oriented Guidance:</a:t>
            </a:r>
            <a:r>
              <a:rPr lang="en-US" sz="2000" dirty="0"/>
              <a:t> Goes beyond idea generation by suggesting </a:t>
            </a:r>
            <a:r>
              <a:rPr lang="en-US" sz="2000" b="1" dirty="0"/>
              <a:t>implementation strategies, technology recommendations, and business improvements</a:t>
            </a:r>
            <a:r>
              <a:rPr lang="en-US" sz="2000" dirty="0"/>
              <a:t> to help transform ideas into practical business opportunities. </a:t>
            </a:r>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IN" sz="1850" dirty="0">
                <a:latin typeface="Times New Roman"/>
                <a:ea typeface="Times New Roman"/>
                <a:cs typeface="Times New Roman"/>
                <a:sym typeface="Times New Roman"/>
                <a:hlinkClick r:id="rId3"/>
              </a:rPr>
              <a:t>https://github.com/Snehali2/smart-business-idea-generator.git</a:t>
            </a:r>
            <a:endParaRPr lang="en-IN" sz="1850" dirty="0">
              <a:latin typeface="Times New Roman"/>
              <a:ea typeface="Times New Roman"/>
              <a:cs typeface="Times New Roman"/>
              <a:sym typeface="Times New Roman"/>
            </a:endParaRPr>
          </a:p>
          <a:p>
            <a:pPr>
              <a:lnSpc>
                <a:spcPct val="162162"/>
              </a:lnSpc>
              <a:buClr>
                <a:srgbClr val="2B3541"/>
              </a:buClr>
              <a:buSzPts val="1850"/>
            </a:pPr>
            <a:r>
              <a:rPr lang="en-IN" sz="1850" dirty="0">
                <a:latin typeface="Times New Roman"/>
                <a:ea typeface="Times New Roman"/>
                <a:cs typeface="Times New Roman"/>
                <a:sym typeface="Times New Roman"/>
              </a:rPr>
              <a:t>Files in this repo-</a:t>
            </a:r>
          </a:p>
          <a:p>
            <a:pPr>
              <a:lnSpc>
                <a:spcPct val="162162"/>
              </a:lnSpc>
              <a:buClr>
                <a:srgbClr val="2B3541"/>
              </a:buClr>
              <a:buSzPts val="1850"/>
            </a:pPr>
            <a:r>
              <a:rPr lang="en-IN" sz="1850" dirty="0">
                <a:latin typeface="Times New Roman"/>
                <a:ea typeface="Times New Roman"/>
                <a:cs typeface="Times New Roman"/>
                <a:sym typeface="Times New Roman"/>
              </a:rPr>
              <a:t>1.app.json</a:t>
            </a:r>
          </a:p>
          <a:p>
            <a:pPr>
              <a:lnSpc>
                <a:spcPct val="162162"/>
              </a:lnSpc>
              <a:buClr>
                <a:srgbClr val="2B3541"/>
              </a:buClr>
              <a:buSzPts val="1850"/>
            </a:pPr>
            <a:r>
              <a:rPr lang="en-IN" sz="1850" dirty="0">
                <a:latin typeface="Times New Roman"/>
                <a:ea typeface="Times New Roman"/>
                <a:cs typeface="Times New Roman"/>
                <a:sym typeface="Times New Roman"/>
              </a:rPr>
              <a:t>2.index.html</a:t>
            </a:r>
          </a:p>
          <a:p>
            <a:pPr>
              <a:lnSpc>
                <a:spcPct val="162162"/>
              </a:lnSpc>
              <a:buClr>
                <a:srgbClr val="2B3541"/>
              </a:buClr>
              <a:buSzPts val="1850"/>
            </a:pPr>
            <a:r>
              <a:rPr lang="en-IN" sz="1850" dirty="0">
                <a:latin typeface="Times New Roman"/>
                <a:ea typeface="Times New Roman"/>
                <a:cs typeface="Times New Roman"/>
                <a:sym typeface="Times New Roman"/>
              </a:rPr>
              <a:t>3. presentation.pptx </a:t>
            </a:r>
          </a:p>
          <a:p>
            <a:pPr>
              <a:lnSpc>
                <a:spcPct val="162162"/>
              </a:lnSpc>
              <a:buClr>
                <a:srgbClr val="2B3541"/>
              </a:buClr>
              <a:buSzPts val="1850"/>
            </a:pPr>
            <a:r>
              <a:rPr lang="en-IN" sz="1850" dirty="0">
                <a:latin typeface="Times New Roman"/>
                <a:ea typeface="Times New Roman"/>
                <a:cs typeface="Times New Roman"/>
                <a:sym typeface="Times New Roman"/>
              </a:rPr>
              <a:t>4.problemstatement.pdf</a:t>
            </a:r>
          </a:p>
          <a:p>
            <a:pPr>
              <a:lnSpc>
                <a:spcPct val="162162"/>
              </a:lnSpc>
              <a:buClr>
                <a:srgbClr val="2B3541"/>
              </a:buClr>
              <a:buSzPts val="1850"/>
            </a:pPr>
            <a:r>
              <a:rPr lang="en-IN" sz="1850" dirty="0">
                <a:latin typeface="Times New Roman"/>
                <a:ea typeface="Times New Roman"/>
                <a:cs typeface="Times New Roman"/>
                <a:sym typeface="Times New Roman"/>
              </a:rPr>
              <a:t>5. readme.md</a:t>
            </a:r>
          </a:p>
          <a:p>
            <a:pPr>
              <a:lnSpc>
                <a:spcPct val="162162"/>
              </a:lnSpc>
              <a:buClr>
                <a:srgbClr val="2B3541"/>
              </a:buClr>
              <a:buSzPts val="1850"/>
            </a:pPr>
            <a:r>
              <a:rPr lang="en-IN" sz="1850" dirty="0">
                <a:latin typeface="Times New Roman"/>
                <a:ea typeface="Times New Roman"/>
                <a:cs typeface="Times New Roman"/>
                <a:sym typeface="Times New Roman"/>
              </a:rPr>
              <a:t> </a:t>
            </a:r>
          </a:p>
          <a:p>
            <a:pPr lvl="0">
              <a:lnSpc>
                <a:spcPct val="162162"/>
              </a:lnSpc>
              <a:buClr>
                <a:srgbClr val="2B3541"/>
              </a:buClr>
              <a:buSzPts val="1850"/>
            </a:pPr>
            <a:r>
              <a:rPr lang="en-US" sz="1850" b="0" i="0" u="none" strike="noStrike" cap="none" dirty="0">
                <a:solidFill>
                  <a:srgbClr val="000000"/>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94667" y="129209"/>
            <a:ext cx="7468553" cy="99553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D082CA01-B8C3-AA0A-BC89-602BF5A9043D}"/>
              </a:ext>
            </a:extLst>
          </p:cNvPr>
          <p:cNvSpPr txBox="1"/>
          <p:nvPr/>
        </p:nvSpPr>
        <p:spPr>
          <a:xfrm>
            <a:off x="194667" y="815009"/>
            <a:ext cx="11394358" cy="6247864"/>
          </a:xfrm>
          <a:prstGeom prst="rect">
            <a:avLst/>
          </a:prstGeom>
          <a:noFill/>
        </p:spPr>
        <p:txBody>
          <a:bodyPr wrap="square">
            <a:spAutoFit/>
          </a:bodyPr>
          <a:lstStyle/>
          <a:p>
            <a:pPr algn="just">
              <a:buNone/>
            </a:pPr>
            <a:r>
              <a:rPr lang="en-US" sz="2000" b="1" dirty="0"/>
              <a:t>Future Scope of Smart Business Idea Generator Agent</a:t>
            </a:r>
          </a:p>
          <a:p>
            <a:pPr algn="just">
              <a:buFont typeface="Arial" panose="020B0604020202020204" pitchFamily="34" charset="0"/>
              <a:buChar char="•"/>
            </a:pPr>
            <a:r>
              <a:rPr lang="en-US" sz="2000" b="1" dirty="0"/>
              <a:t>Investor &amp; Funding Recommendations:</a:t>
            </a:r>
            <a:r>
              <a:rPr lang="en-US" sz="2000" dirty="0"/>
              <a:t> Connect users with suitable investors, incubators, accelerators, and government funding schemes based on their business ideas. </a:t>
            </a:r>
          </a:p>
          <a:p>
            <a:pPr algn="just">
              <a:buFont typeface="Arial" panose="020B0604020202020204" pitchFamily="34" charset="0"/>
              <a:buChar char="•"/>
            </a:pPr>
            <a:r>
              <a:rPr lang="en-US" sz="2000" b="1" dirty="0"/>
              <a:t>Real-Time Market Intelligence:</a:t>
            </a:r>
            <a:r>
              <a:rPr lang="en-US" sz="2000" dirty="0"/>
              <a:t> Integrate live market trends, industry news, competitor analysis, and consumer insights for more accurate recommendations. </a:t>
            </a:r>
          </a:p>
          <a:p>
            <a:pPr algn="just">
              <a:buFont typeface="Arial" panose="020B0604020202020204" pitchFamily="34" charset="0"/>
              <a:buChar char="•"/>
            </a:pPr>
            <a:r>
              <a:rPr lang="en-US" sz="2000" b="1" dirty="0"/>
              <a:t>AI-Generated Business Plans:</a:t>
            </a:r>
            <a:r>
              <a:rPr lang="en-US" sz="2000" dirty="0"/>
              <a:t> Automatically generate detailed business plans, financial projections, marketing strategies, and implementation roadmaps. </a:t>
            </a:r>
          </a:p>
          <a:p>
            <a:pPr algn="just">
              <a:buFont typeface="Arial" panose="020B0604020202020204" pitchFamily="34" charset="0"/>
              <a:buChar char="•"/>
            </a:pPr>
            <a:r>
              <a:rPr lang="en-US" sz="2000" b="1" dirty="0"/>
              <a:t>Pitch Deck Generation:</a:t>
            </a:r>
            <a:r>
              <a:rPr lang="en-US" sz="2000" dirty="0"/>
              <a:t> Create professional investor pitch decks and executive summaries with a single click. </a:t>
            </a:r>
          </a:p>
          <a:p>
            <a:pPr algn="just">
              <a:buFont typeface="Arial" panose="020B0604020202020204" pitchFamily="34" charset="0"/>
              <a:buChar char="•"/>
            </a:pPr>
            <a:r>
              <a:rPr lang="en-US" sz="2000" b="1" dirty="0"/>
              <a:t>Patent &amp; Innovation Search:</a:t>
            </a:r>
            <a:r>
              <a:rPr lang="en-US" sz="2000" dirty="0"/>
              <a:t> Check existing patents and identify novel opportunities to reduce duplication and encourage innovation. </a:t>
            </a:r>
          </a:p>
          <a:p>
            <a:pPr algn="just">
              <a:buFont typeface="Arial" panose="020B0604020202020204" pitchFamily="34" charset="0"/>
              <a:buChar char="•"/>
            </a:pPr>
            <a:r>
              <a:rPr lang="en-US" sz="2000" b="1" dirty="0"/>
              <a:t>Team &amp; Mentor Matching:</a:t>
            </a:r>
            <a:r>
              <a:rPr lang="en-US" sz="2000" dirty="0"/>
              <a:t> Recommend co-founders, mentors, and industry experts based on the business domain and project requirements. </a:t>
            </a:r>
          </a:p>
          <a:p>
            <a:pPr algn="just">
              <a:buFont typeface="Arial" panose="020B0604020202020204" pitchFamily="34" charset="0"/>
              <a:buChar char="•"/>
            </a:pPr>
            <a:r>
              <a:rPr lang="en-US" sz="2000" b="1" dirty="0"/>
              <a:t>Multilingual Support:</a:t>
            </a:r>
            <a:r>
              <a:rPr lang="en-US" sz="2000" dirty="0"/>
              <a:t> Enable users to interact with the agent in multiple regional and international languages. </a:t>
            </a:r>
          </a:p>
          <a:p>
            <a:pPr algn="just">
              <a:buFont typeface="Arial" panose="020B0604020202020204" pitchFamily="34" charset="0"/>
              <a:buChar char="•"/>
            </a:pPr>
            <a:r>
              <a:rPr lang="en-US" sz="2000" b="1" dirty="0"/>
              <a:t>Predictive Business Analytics:</a:t>
            </a:r>
            <a:r>
              <a:rPr lang="en-US" sz="2000" dirty="0"/>
              <a:t> Use AI to forecast market demand, business growth, risks, and future opportunities. </a:t>
            </a:r>
          </a:p>
          <a:p>
            <a:pPr algn="just">
              <a:buFont typeface="Arial" panose="020B0604020202020204" pitchFamily="34" charset="0"/>
              <a:buChar char="•"/>
            </a:pPr>
            <a:r>
              <a:rPr lang="en-US" sz="2000" b="1" dirty="0"/>
              <a:t>Cloud Deployment &amp; Mobile App:</a:t>
            </a:r>
            <a:r>
              <a:rPr lang="en-US" sz="2000" dirty="0"/>
              <a:t> Expand the solution into a cloud-based platform with Android and iOS applications for wider accessibility. </a:t>
            </a:r>
          </a:p>
          <a:p>
            <a:pPr algn="just"/>
            <a:r>
              <a:rPr lang="en-US" sz="2000" dirty="0"/>
              <a:t>. </a:t>
            </a: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0335201A-EE7D-89C9-828E-7DC20F1A66BF}"/>
              </a:ext>
            </a:extLst>
          </p:cNvPr>
          <p:cNvPicPr>
            <a:picLocks noChangeAspect="1"/>
          </p:cNvPicPr>
          <p:nvPr/>
        </p:nvPicPr>
        <p:blipFill>
          <a:blip r:embed="rId2"/>
          <a:stretch>
            <a:fillRect/>
          </a:stretch>
        </p:blipFill>
        <p:spPr>
          <a:xfrm>
            <a:off x="815008" y="690061"/>
            <a:ext cx="8131758" cy="59605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5C6DD1F6-3B60-6544-FAD3-D45D7ED26117}"/>
              </a:ext>
            </a:extLst>
          </p:cNvPr>
          <p:cNvPicPr>
            <a:picLocks noChangeAspect="1"/>
          </p:cNvPicPr>
          <p:nvPr/>
        </p:nvPicPr>
        <p:blipFill>
          <a:blip r:embed="rId2"/>
          <a:stretch>
            <a:fillRect/>
          </a:stretch>
        </p:blipFill>
        <p:spPr>
          <a:xfrm>
            <a:off x="941070" y="820054"/>
            <a:ext cx="9157087" cy="5811555"/>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1193</Words>
  <Application>Microsoft Office PowerPoint</Application>
  <PresentationFormat>Widescreen</PresentationFormat>
  <Paragraphs>119</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Modern college</cp:lastModifiedBy>
  <cp:revision>18</cp:revision>
  <dcterms:created xsi:type="dcterms:W3CDTF">2025-07-08T05:06:56Z</dcterms:created>
  <dcterms:modified xsi:type="dcterms:W3CDTF">2026-07-15T05:22:49Z</dcterms:modified>
</cp:coreProperties>
</file>